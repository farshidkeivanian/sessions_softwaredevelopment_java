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9"/>
  </p:notesMasterIdLst>
  <p:sldIdLst>
    <p:sldId id="507" r:id="rId3"/>
    <p:sldId id="256" r:id="rId4"/>
    <p:sldId id="274" r:id="rId5"/>
    <p:sldId id="275" r:id="rId6"/>
    <p:sldId id="276" r:id="rId7"/>
    <p:sldId id="268" r:id="rId8"/>
    <p:sldId id="257" r:id="rId9"/>
    <p:sldId id="269" r:id="rId10"/>
    <p:sldId id="258" r:id="rId11"/>
    <p:sldId id="259" r:id="rId12"/>
    <p:sldId id="270" r:id="rId13"/>
    <p:sldId id="260" r:id="rId14"/>
    <p:sldId id="271" r:id="rId15"/>
    <p:sldId id="262" r:id="rId16"/>
    <p:sldId id="263" r:id="rId17"/>
    <p:sldId id="264" r:id="rId18"/>
    <p:sldId id="272" r:id="rId19"/>
    <p:sldId id="265" r:id="rId20"/>
    <p:sldId id="266" r:id="rId21"/>
    <p:sldId id="273" r:id="rId22"/>
    <p:sldId id="1916" r:id="rId23"/>
    <p:sldId id="527" r:id="rId24"/>
    <p:sldId id="1938" r:id="rId25"/>
    <p:sldId id="1945" r:id="rId26"/>
    <p:sldId id="1946" r:id="rId27"/>
    <p:sldId id="1947" r:id="rId28"/>
    <p:sldId id="1948" r:id="rId29"/>
    <p:sldId id="1935" r:id="rId30"/>
    <p:sldId id="1934" r:id="rId31"/>
    <p:sldId id="488" r:id="rId32"/>
    <p:sldId id="489" r:id="rId33"/>
    <p:sldId id="491" r:id="rId34"/>
    <p:sldId id="490" r:id="rId35"/>
    <p:sldId id="493" r:id="rId36"/>
    <p:sldId id="494" r:id="rId37"/>
    <p:sldId id="495" r:id="rId38"/>
    <p:sldId id="1943" r:id="rId39"/>
    <p:sldId id="1944" r:id="rId40"/>
    <p:sldId id="502" r:id="rId41"/>
    <p:sldId id="505" r:id="rId42"/>
    <p:sldId id="506" r:id="rId43"/>
    <p:sldId id="496" r:id="rId44"/>
    <p:sldId id="497" r:id="rId45"/>
    <p:sldId id="498" r:id="rId46"/>
    <p:sldId id="499" r:id="rId47"/>
    <p:sldId id="500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144" autoAdjust="0"/>
  </p:normalViewPr>
  <p:slideViewPr>
    <p:cSldViewPr snapToGrid="0">
      <p:cViewPr varScale="1">
        <p:scale>
          <a:sx n="68" d="100"/>
          <a:sy n="68" d="100"/>
        </p:scale>
        <p:origin x="1018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76BEA3-58A8-4B9F-A775-413DE01D7A7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59542-E0FA-4014-8900-62CB05CF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428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536964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B0ECC-E0D5-2076-0397-FA451884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4700D067-87BF-A95B-98D5-1CBCFC4081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0A1E671F-1E49-974D-9C3E-4D8BF0CCCD6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90887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FB969-89DC-5726-359B-B0E6F5377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5E2E3794-DD8E-4CFD-0BF6-A0DFA0BA5D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8BFE6C6B-08E2-D693-FE33-2502ACE6BA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13142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36C4A-31B3-C2C7-EDE5-16874C099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268647EF-8582-7D29-E58C-0D1402FB48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F9832BAB-9CDE-A918-61EE-C69EE06F4C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5867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4AC16-EBD4-3914-616C-8B4A29D31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12A4BEBA-81DE-16B5-9DB4-AA93E0CE5B6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18E07FCA-DEF6-7E41-AF00-10F35F2BB5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9815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74A61-F940-9C0F-E6D7-271E7CD04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0A1F8BE7-5BE7-1916-6BF5-4EB72F6F396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61F0380B-0C60-87B5-A017-AF8B2143D2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04245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8DEF2-8289-06D2-57D1-921EA23B3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52FE19C-38D7-6B78-C142-CE205301BA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5A7A180D-97C8-D954-D14A-A8E8A76B00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0893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F1C1-9473-F604-06AF-949E21CAE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74E7EA2D-7F1B-E784-C217-86CFEC4B171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3ED84510-DC30-971A-B09D-2D4716B0F9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66237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1C23-F98C-582E-72C3-EEB5041069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F36D82-DB3D-D090-6511-2681734AD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00033-D12B-2B44-8856-E1960BC82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D6662-71A4-6CF4-BF10-321907384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0F587-9B62-7649-C32E-F3C61CA5E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924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110DA-646C-F063-D875-A6626A7D0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83D1A-2BAE-EDB0-1313-7F3D595AA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8AC6F-5DF6-116F-8904-A6F060A8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6ED18D-66EF-1672-033F-49A5D11E2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994DB-EF74-C1AB-09F4-D630876D4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9191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5C253-2B59-461F-C345-EF562781E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431BDE-CBC8-72BB-70D8-DCE2D03033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81E49-2CB3-0589-A261-EACF12AC0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32B3A-DB13-5BC5-A2CE-B5E2EBD2A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31E75-DC02-A3EF-205D-2AF1B5984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1543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F87ED-9F31-D5BA-4881-89C6CB70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D9AC3-8728-A328-889E-3F84B7642E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A85FA-F680-7A63-1D80-F31D8A694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36F378-8212-F877-C467-B924FF39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35E4B-4130-F8F5-AFBE-29FBEA6D7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BC6FEA-5FD5-BD98-C415-2B938FE21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698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574E4-C6FE-AB6A-DBFE-8ABD52F3C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113DE-9D0F-D0F2-B6EE-00DBFF4204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512579-5844-D765-26F0-E1E5087A0B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B6A522-8D81-F1A7-2409-55294A3E32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7FC6B5-CE1A-AF72-EA26-7ABE2EC1B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CCE63C-820B-AA7E-08E4-96EF6F50E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2C5E0C-0486-F8D4-EA08-DF794E6A1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3FF64E-C771-9E7F-F9D0-2A72E4097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93203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E2759-4DA9-4B3E-4646-37847A5C4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530A1-4F14-0F69-A569-043CC1C1A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295174-6BB0-F42B-D708-006F373E3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BABB9-1D46-C732-05B1-A21FCC814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1548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4800DE-883F-8554-211A-BCAB6C66A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40F969-B188-610E-840D-1FD1124C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B2F95-A230-445D-E963-9C1BA2A10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6109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09DDB-4DB8-1261-8181-E97D9ED7F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93D4A-B072-418D-9A27-CDDDDA98A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95CD57-B086-590A-39EC-3FDE34C42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63245-34B6-A378-8A91-4EBAF6A26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7560E6-A2DE-3D7B-8CD2-4B0214922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4B3E14-D6DD-9BAB-8B9B-78BC6E2C4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1768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B66AF-2B52-5D30-5707-537384F38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790EA8-264D-B851-9A79-4244D3E04E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64617F-0388-7770-9BFC-F350406CEB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DB2B37-2CBD-8CBA-CD71-44EF72B5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C2C1B-1554-08BE-A013-785549563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6FEE98-97B6-6AA5-6738-A945AA12A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3760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3CD10-833B-7CCA-E397-B0870E00C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841A67-DF17-C272-E9D6-1C7C1D3790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9EAC2-6BFD-882C-9D54-0EF5E68EA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935DF-A215-393D-D4EE-770E4F539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75D9E-75D5-96E4-11E5-4C3428DC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3949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92186-B526-A0A4-45F9-ACEBA88817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EF725-2E5F-7E41-747D-48C7C2CE9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679-046B-FD1D-E166-4062B9922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D9F8B-AFFE-4F65-417E-5E112D0BF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788735-ED5F-B0CA-FE90-11086E9C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5327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1" y="-3175"/>
            <a:ext cx="12189884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1" y="-3175"/>
            <a:ext cx="12192303" cy="6861175"/>
            <a:chOff x="5" y="-2"/>
            <a:chExt cx="5750" cy="4322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671352" y="1366463"/>
            <a:ext cx="5027489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671352" y="2503488"/>
            <a:ext cx="5027489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671734" y="3944938"/>
            <a:ext cx="5027084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671734" y="4239821"/>
            <a:ext cx="5027084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1" y="469901"/>
            <a:ext cx="6087532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1" y="3422651"/>
            <a:ext cx="6087532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pic>
        <p:nvPicPr>
          <p:cNvPr id="49" name="Picture 4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0" y="252000"/>
            <a:ext cx="1833600" cy="810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067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1" y="-3175"/>
            <a:ext cx="12189884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1164167" y="2658154"/>
            <a:ext cx="515620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1164167" y="3652839"/>
            <a:ext cx="515620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1164167" y="5316538"/>
            <a:ext cx="5027084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164167" y="5611421"/>
            <a:ext cx="5027084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8852260" y="2653277"/>
            <a:ext cx="2354833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pic>
        <p:nvPicPr>
          <p:cNvPr id="43" name="Picture 4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0" y="5760000"/>
            <a:ext cx="1833600" cy="810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9659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1" y="-3175"/>
            <a:ext cx="12189884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1" y="0"/>
            <a:ext cx="12192303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6096152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6096152" y="-3175"/>
            <a:ext cx="6096152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718300" y="2848654"/>
            <a:ext cx="515620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18300" y="3652839"/>
            <a:ext cx="515620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718301" y="5316538"/>
            <a:ext cx="5027084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718301" y="5611421"/>
            <a:ext cx="5027084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6096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pic>
        <p:nvPicPr>
          <p:cNvPr id="85" name="Picture 8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0" y="252000"/>
            <a:ext cx="1833600" cy="810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62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1" y="-3175"/>
            <a:ext cx="12189884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2"/>
            <a:ext cx="6096309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6096310" y="-3174"/>
            <a:ext cx="6096309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2"/>
            <a:ext cx="12192619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406341" y="1054318"/>
            <a:ext cx="5663740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99227" y="3246828"/>
            <a:ext cx="4123267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0" y="252000"/>
            <a:ext cx="1833600" cy="810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776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87828" y="958873"/>
            <a:ext cx="8977389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7829" y="1666877"/>
            <a:ext cx="11045372" cy="406944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87829" y="-8733"/>
            <a:ext cx="57911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</p:spTree>
    <p:extLst>
      <p:ext uri="{BB962C8B-B14F-4D97-AF65-F5344CB8AC3E}">
        <p14:creationId xmlns:p14="http://schemas.microsoft.com/office/powerpoint/2010/main" val="3367654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587828" y="770736"/>
            <a:ext cx="8977389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587828" y="1339936"/>
            <a:ext cx="8979197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587829" y="2275571"/>
            <a:ext cx="11045371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587829" y="2640809"/>
            <a:ext cx="11045372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7202437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3601" y="1626055"/>
            <a:ext cx="515620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484" y="1651001"/>
            <a:ext cx="5183717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587828" y="770736"/>
            <a:ext cx="8979197" cy="538609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845351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1851" y="1864189"/>
            <a:ext cx="105156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65239" y="1056580"/>
            <a:ext cx="8979197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6792282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1" y="-3175"/>
            <a:ext cx="12189884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2118" y="0"/>
            <a:ext cx="1218776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2118" y="-3175"/>
            <a:ext cx="6707717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6096002" y="6397625"/>
            <a:ext cx="6093884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587828" y="1014758"/>
            <a:ext cx="8977389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587829" y="1751358"/>
            <a:ext cx="11045372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pic>
        <p:nvPicPr>
          <p:cNvPr id="48" name="Picture 4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0" y="252001"/>
            <a:ext cx="1833600" cy="81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4242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2118" y="0"/>
            <a:ext cx="1218776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2118" y="-3175"/>
            <a:ext cx="6707717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6096002" y="6397625"/>
            <a:ext cx="6093884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1" y="-3175"/>
            <a:ext cx="12189884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0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587828" y="1014758"/>
            <a:ext cx="8977389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587829" y="1751358"/>
            <a:ext cx="11045372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5583646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AC127-F6B9-0C4A-951C-F96F0AE6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B63EC9-6CFC-F341-80B9-A662C9DECAA1}" type="datetime1">
              <a:rPr lang="en-US"/>
              <a:pPr>
                <a:defRPr/>
              </a:pPr>
              <a:t>3/2/2026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63EC13-6E8F-2B44-B0DD-80E147CB53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3285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1C23-F98C-582E-72C3-EEB5041069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24969"/>
            <a:ext cx="9144000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F36D82-DB3D-D090-6511-2681734AD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00033-D12B-2B44-8856-E1960BC823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1"/>
            <a:ext cx="2804160" cy="276999"/>
          </a:xfrm>
        </p:spPr>
        <p:txBody>
          <a:bodyPr/>
          <a:lstStyle/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D6662-71A4-6CF4-BF10-321907384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1"/>
            <a:ext cx="3901440" cy="246221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0F587-9B62-7649-C32E-F3C61CA5E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36359" y="6556594"/>
            <a:ext cx="3249507" cy="246221"/>
          </a:xfrm>
        </p:spPr>
        <p:txBody>
          <a:bodyPr/>
          <a:lstStyle/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367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6A767-C85D-18A3-AC17-5EED35111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83AB4-0971-6BE7-8F29-2369CD6AF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E0E8D-513C-7CD2-93CF-6BD2BD632A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A8926A-745D-4C7B-B9C7-AF31C8916216}" type="datetimeFigureOut">
              <a:rPr lang="en-AU" smtClean="0"/>
              <a:t>2/03/2026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40D8D-941A-08C9-589D-C9D8FAD664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1B44C-DB14-1BBD-913F-35BA5DFFFB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BB6E08-B413-4876-9D85-D849496425B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1428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5" imgW="347" imgH="348" progId="TCLayout.ActiveDocument.1">
                  <p:embed/>
                </p:oleObj>
              </mc:Choice>
              <mc:Fallback>
                <p:oleObj name="think-cell Slide" r:id="rId15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2118" y="-3175"/>
            <a:ext cx="12187767" cy="6861175"/>
            <a:chOff x="1" y="-2"/>
            <a:chExt cx="5758" cy="4322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 sz="1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0344" y="6510472"/>
            <a:ext cx="41148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Directorate | Office | Faculty | School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5239" y="6510472"/>
            <a:ext cx="597504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000" y="252001"/>
            <a:ext cx="1833600" cy="81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221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EB14CC5-3D37-7D41-4011-7676E14CDB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954" b="45556"/>
          <a:stretch>
            <a:fillRect/>
          </a:stretch>
        </p:blipFill>
        <p:spPr>
          <a:xfrm>
            <a:off x="6399890" y="3045516"/>
            <a:ext cx="5550195" cy="2800350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CAD04-9A92-35F3-6D78-BAD0ECE4C2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121108" y="6510472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AU" sz="1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CC1B97-4EB1-61E8-9A16-AEC107221E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885" b="39602"/>
          <a:stretch>
            <a:fillRect/>
          </a:stretch>
        </p:blipFill>
        <p:spPr>
          <a:xfrm>
            <a:off x="6399891" y="722842"/>
            <a:ext cx="5550195" cy="2092451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33B3172-EEB1-C36C-CA61-428ED83CE8CD}"/>
              </a:ext>
            </a:extLst>
          </p:cNvPr>
          <p:cNvCxnSpPr>
            <a:cxnSpLocks/>
            <a:stCxn id="10" idx="3"/>
            <a:endCxn id="17" idx="3"/>
          </p:cNvCxnSpPr>
          <p:nvPr/>
        </p:nvCxnSpPr>
        <p:spPr>
          <a:xfrm flipH="1">
            <a:off x="11950085" y="1769068"/>
            <a:ext cx="1" cy="2676623"/>
          </a:xfrm>
          <a:prstGeom prst="bentConnector3">
            <a:avLst>
              <a:gd name="adj1" fmla="val -2286000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CE4064E-7564-CCB1-360B-618651CF2EE6}"/>
              </a:ext>
            </a:extLst>
          </p:cNvPr>
          <p:cNvSpPr/>
          <p:nvPr/>
        </p:nvSpPr>
        <p:spPr>
          <a:xfrm>
            <a:off x="4569237" y="2049518"/>
            <a:ext cx="1417771" cy="32582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AAC283B-6DD7-5C40-60A3-24701424F61D}"/>
              </a:ext>
            </a:extLst>
          </p:cNvPr>
          <p:cNvSpPr/>
          <p:nvPr/>
        </p:nvSpPr>
        <p:spPr>
          <a:xfrm>
            <a:off x="8190539" y="2341820"/>
            <a:ext cx="2517103" cy="21434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E5384CE-5364-279F-4306-BA64AA564242}"/>
              </a:ext>
            </a:extLst>
          </p:cNvPr>
          <p:cNvSpPr/>
          <p:nvPr/>
        </p:nvSpPr>
        <p:spPr>
          <a:xfrm>
            <a:off x="7291363" y="5513273"/>
            <a:ext cx="1486878" cy="33259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A108AC99-2D68-2E7B-C72E-25F71EB35639}"/>
              </a:ext>
            </a:extLst>
          </p:cNvPr>
          <p:cNvSpPr txBox="1">
            <a:spLocks/>
          </p:cNvSpPr>
          <p:nvPr/>
        </p:nvSpPr>
        <p:spPr>
          <a:xfrm>
            <a:off x="0" y="-215780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Java Installation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96C059-711C-4CC0-3B87-EFFC018F60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t="24829" r="49224" b="42365"/>
          <a:stretch>
            <a:fillRect/>
          </a:stretch>
        </p:blipFill>
        <p:spPr>
          <a:xfrm>
            <a:off x="0" y="644102"/>
            <a:ext cx="6190593" cy="2249929"/>
          </a:xfrm>
          <a:prstGeom prst="rect">
            <a:avLst/>
          </a:prstGeom>
          <a:ln w="19050">
            <a:solidFill>
              <a:srgbClr val="FF0000"/>
            </a:solidFill>
          </a:ln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F00B765-E112-29D6-4D78-4EBF352C841F}"/>
              </a:ext>
            </a:extLst>
          </p:cNvPr>
          <p:cNvSpPr/>
          <p:nvPr/>
        </p:nvSpPr>
        <p:spPr>
          <a:xfrm>
            <a:off x="2634230" y="1879835"/>
            <a:ext cx="1486878" cy="33259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272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074604-CB6A-8C92-0ED9-92045BCD74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76" t="24828" r="11293" b="9731"/>
          <a:stretch>
            <a:fillRect/>
          </a:stretch>
        </p:blipFill>
        <p:spPr>
          <a:xfrm>
            <a:off x="525517" y="2056845"/>
            <a:ext cx="10415752" cy="44879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lang="en-AU" sz="2800" u="sng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lang="en-AU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5234152" y="5580993"/>
            <a:ext cx="5559972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0DAFA3C-B73E-1B29-A3B8-21B1B0E3DB30}"/>
              </a:ext>
            </a:extLst>
          </p:cNvPr>
          <p:cNvSpPr/>
          <p:nvPr/>
        </p:nvSpPr>
        <p:spPr>
          <a:xfrm>
            <a:off x="5234151" y="6062877"/>
            <a:ext cx="5559971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2290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E025-5A77-EE6D-9A96-DD33A5CA3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14034FF-F534-D1AD-2356-47FFF4FD4E3C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984F7-41B5-A30A-CE32-728BF90188D0}"/>
              </a:ext>
            </a:extLst>
          </p:cNvPr>
          <p:cNvSpPr txBox="1"/>
          <p:nvPr/>
        </p:nvSpPr>
        <p:spPr>
          <a:xfrm>
            <a:off x="0" y="1394673"/>
            <a:ext cx="12034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highlight>
                  <a:srgbClr val="00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Mac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users can install: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Eclipse IDE for Java Developers – 2024-06 version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It works on macOS (Intel and Apple Silicon).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4E2CF3-AB16-08EA-45B1-483A7A36DE8B}"/>
              </a:ext>
            </a:extLst>
          </p:cNvPr>
          <p:cNvSpPr txBox="1"/>
          <p:nvPr/>
        </p:nvSpPr>
        <p:spPr>
          <a:xfrm>
            <a:off x="0" y="3429000"/>
            <a:ext cx="1135117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Steps: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Install JDK (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Temurin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or Oracle JDK 17+)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Download Eclipse for macOS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Extract and run</a:t>
            </a:r>
          </a:p>
        </p:txBody>
      </p:sp>
    </p:spTree>
    <p:extLst>
      <p:ext uri="{BB962C8B-B14F-4D97-AF65-F5344CB8AC3E}">
        <p14:creationId xmlns:p14="http://schemas.microsoft.com/office/powerpoint/2010/main" val="2943702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A721A-C794-EE10-3F8E-0D442A20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94A1EAD-517C-E62B-996A-AD125FA9DA6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6A8980-1E51-5E31-7E3E-B903755FCB69}"/>
              </a:ext>
            </a:extLst>
          </p:cNvPr>
          <p:cNvSpPr txBox="1"/>
          <p:nvPr/>
        </p:nvSpPr>
        <p:spPr>
          <a:xfrm>
            <a:off x="0" y="1394673"/>
            <a:ext cx="1203434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Do We Recommend Google </a:t>
            </a:r>
            <a:r>
              <a:rPr lang="en-US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Colab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No, not for this unit.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Reasons: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Colab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is mainly for Python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Java support is limited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No proper IDE experience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Not suitable for OOP projects</a:t>
            </a:r>
          </a:p>
        </p:txBody>
      </p:sp>
    </p:spTree>
    <p:extLst>
      <p:ext uri="{BB962C8B-B14F-4D97-AF65-F5344CB8AC3E}">
        <p14:creationId xmlns:p14="http://schemas.microsoft.com/office/powerpoint/2010/main" val="2512872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BCF5A-AB28-6985-648E-8E2B87F67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9A023D-4577-3998-EC2E-8975D839CE83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EC7BB-F271-E366-ED8A-A65E4C43ED52}"/>
              </a:ext>
            </a:extLst>
          </p:cNvPr>
          <p:cNvSpPr txBox="1"/>
          <p:nvPr/>
        </p:nvSpPr>
        <p:spPr>
          <a:xfrm>
            <a:off x="0" y="830917"/>
            <a:ext cx="1203434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Better options: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Eclipse (recommended)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IntelliJ Community Edition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VS Code (with Java extension)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If needed, Mac students can: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Install Eclipse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IntelliJ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Borrow a Windows laptop (if installation issues)</a:t>
            </a:r>
          </a:p>
        </p:txBody>
      </p:sp>
    </p:spTree>
    <p:extLst>
      <p:ext uri="{BB962C8B-B14F-4D97-AF65-F5344CB8AC3E}">
        <p14:creationId xmlns:p14="http://schemas.microsoft.com/office/powerpoint/2010/main" val="3019561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4D101-DD94-B2D7-F2B0-E52D57D99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E3AF824-179B-11FD-FB22-3902C2606E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086" b="76245"/>
          <a:stretch>
            <a:fillRect/>
          </a:stretch>
        </p:blipFill>
        <p:spPr>
          <a:xfrm>
            <a:off x="0" y="0"/>
            <a:ext cx="12192000" cy="203857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F5C4377-7DED-2C35-1857-2D2F78FD3B7B}"/>
              </a:ext>
            </a:extLst>
          </p:cNvPr>
          <p:cNvSpPr/>
          <p:nvPr/>
        </p:nvSpPr>
        <p:spPr>
          <a:xfrm>
            <a:off x="2243959" y="1660202"/>
            <a:ext cx="5559972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733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6DB8DD-18CF-56F8-F997-80D71A4E33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534" t="25441" r="33879" b="31495"/>
          <a:stretch>
            <a:fillRect/>
          </a:stretch>
        </p:blipFill>
        <p:spPr>
          <a:xfrm>
            <a:off x="336330" y="2056845"/>
            <a:ext cx="6432331" cy="47817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lang="en-AU" sz="2800" u="sng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lang="en-AU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4267200" y="645860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61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6B934-9D78-7F3A-BC10-B37342292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3A7EC4-98C3-C4F9-A9B0-52FECE575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534" t="32184" r="14483" b="25671"/>
          <a:stretch>
            <a:fillRect/>
          </a:stretch>
        </p:blipFill>
        <p:spPr>
          <a:xfrm>
            <a:off x="0" y="2207171"/>
            <a:ext cx="6337738" cy="4697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1D772B-D5E2-5B83-9B14-595D5FF9CDC3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lang="en-AU" sz="2800" u="sng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lang="en-AU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315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DF8570-DA9C-2325-0CA5-C335C712F8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932" t="31418" r="14136" b="24904"/>
          <a:stretch>
            <a:fillRect/>
          </a:stretch>
        </p:blipFill>
        <p:spPr>
          <a:xfrm>
            <a:off x="0" y="2056844"/>
            <a:ext cx="6390290" cy="47676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lang="en-AU" sz="2800" u="sng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lang="en-AU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3899338" y="6393546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5653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Type </a:t>
            </a:r>
            <a:r>
              <a:rPr lang="en-AU" sz="2800" dirty="0" err="1">
                <a:effectLst/>
                <a:highlight>
                  <a:srgbClr val="00FF00"/>
                </a:highlight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cmd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to run command Prompt in Windows</a:t>
            </a:r>
            <a:endParaRPr lang="en-AU" sz="2800" dirty="0">
              <a:effectLst/>
              <a:highlight>
                <a:srgbClr val="00FF00"/>
              </a:highlight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A305DD-3EB4-32B0-5A8D-ECF46DCFE1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34" t="5517" r="36466"/>
          <a:stretch>
            <a:fillRect/>
          </a:stretch>
        </p:blipFill>
        <p:spPr>
          <a:xfrm>
            <a:off x="0" y="1410514"/>
            <a:ext cx="5381215" cy="544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976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490B7-9FB1-A937-F5A3-E5E1634C5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6318688-B407-D235-F3B5-A3AD9AA2862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Command Prompt Windows / Terminal in MAC: </a:t>
            </a:r>
            <a:r>
              <a:rPr lang="en-AU" sz="2800" dirty="0">
                <a:effectLst/>
                <a:highlight>
                  <a:srgbClr val="00FF00"/>
                </a:highlight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java –show-version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155DF-E774-949B-11CF-B05E5543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258" t="22989" r="11207" b="12950"/>
          <a:stretch>
            <a:fillRect/>
          </a:stretch>
        </p:blipFill>
        <p:spPr>
          <a:xfrm>
            <a:off x="0" y="1410514"/>
            <a:ext cx="9574924" cy="5430554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606D6BF-13BB-4B36-E316-569EB3B3A938}"/>
              </a:ext>
            </a:extLst>
          </p:cNvPr>
          <p:cNvSpPr/>
          <p:nvPr/>
        </p:nvSpPr>
        <p:spPr>
          <a:xfrm>
            <a:off x="0" y="2186151"/>
            <a:ext cx="3247697" cy="22071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350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AAB9EC-E005-2C97-A5A6-42CB79F77D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448" b="8659"/>
          <a:stretch>
            <a:fillRect/>
          </a:stretch>
        </p:blipFill>
        <p:spPr>
          <a:xfrm>
            <a:off x="656896" y="1534511"/>
            <a:ext cx="10415752" cy="47979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lang="en-AU" sz="28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lang="en-AU" sz="2800" dirty="0">
              <a:effectLst/>
              <a:highlight>
                <a:srgbClr val="00FF00"/>
              </a:highlight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2333296" y="5475889"/>
            <a:ext cx="1618594" cy="30480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5184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82EDA-D014-3D7B-8BF0-EAF09EDA0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352F05-692C-C867-23B7-B9F5B3935E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811" b="22452"/>
          <a:stretch>
            <a:fillRect/>
          </a:stretch>
        </p:blipFill>
        <p:spPr>
          <a:xfrm>
            <a:off x="1634358" y="1539766"/>
            <a:ext cx="8923283" cy="53182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6978E8-C645-1B7F-D4EC-905766A2E995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A922994-7B5D-F1E3-0252-D709B53021E2}"/>
              </a:ext>
            </a:extLst>
          </p:cNvPr>
          <p:cNvSpPr/>
          <p:nvPr/>
        </p:nvSpPr>
        <p:spPr>
          <a:xfrm>
            <a:off x="5108026" y="4761185"/>
            <a:ext cx="2385849" cy="756746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02144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52169D-5466-66A7-9921-F1F5FFFA29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983" t="10574" r="21465" b="64291"/>
          <a:stretch>
            <a:fillRect/>
          </a:stretch>
        </p:blipFill>
        <p:spPr>
          <a:xfrm>
            <a:off x="0" y="1410514"/>
            <a:ext cx="12192000" cy="25900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458875" y="2395463"/>
            <a:ext cx="2263304" cy="42556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155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765C35-142D-14B5-F734-2499642958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449" t="18697" r="33620" b="20154"/>
          <a:stretch>
            <a:fillRect/>
          </a:stretch>
        </p:blipFill>
        <p:spPr>
          <a:xfrm>
            <a:off x="3563003" y="1410514"/>
            <a:ext cx="5065990" cy="52914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3563003" y="2270232"/>
            <a:ext cx="4981907" cy="106154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055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B73B2D-7EA8-D219-DB39-C66D7662C9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62" t="18697" r="33621" b="18927"/>
          <a:stretch>
            <a:fillRect/>
          </a:stretch>
        </p:blipFill>
        <p:spPr>
          <a:xfrm>
            <a:off x="3457903" y="1410514"/>
            <a:ext cx="5126261" cy="544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107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F3ABF-FF9B-07D4-99D2-E561F4DF7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1B4CE5-F93F-BFB1-46E3-8C5ADD042BD4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D3EA63-1984-B2F9-28B1-A01F59408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07" t="20567" r="33362" b="18774"/>
          <a:stretch>
            <a:fillRect/>
          </a:stretch>
        </p:blipFill>
        <p:spPr>
          <a:xfrm>
            <a:off x="3468414" y="1413014"/>
            <a:ext cx="5255172" cy="54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427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E6E414-29EA-98A2-F51D-76C60EDB3F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483" t="18851" r="32586" b="18467"/>
          <a:stretch>
            <a:fillRect/>
          </a:stretch>
        </p:blipFill>
        <p:spPr>
          <a:xfrm>
            <a:off x="3647090" y="1410514"/>
            <a:ext cx="4897820" cy="52440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5139559" y="5034455"/>
            <a:ext cx="2806262" cy="28377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82626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06620-3880-BB2C-66FF-CC11EAAAC9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742" t="23295" r="29742" b="42530"/>
          <a:stretch/>
        </p:blipFill>
        <p:spPr>
          <a:xfrm>
            <a:off x="1322278" y="1786758"/>
            <a:ext cx="9547444" cy="4529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502980" y="352096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350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9B397-C16F-AEF3-6BC1-1363153B0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6405A4-2F64-3FF8-9F96-8AA769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948" b="43755"/>
          <a:stretch>
            <a:fillRect/>
          </a:stretch>
        </p:blipFill>
        <p:spPr>
          <a:xfrm>
            <a:off x="-1" y="1408386"/>
            <a:ext cx="8326913" cy="5370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B0FE5E-1F81-5415-930C-CDF72B22946C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Java Installation: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CD6AFA-CB50-51B4-4BFD-19F6DBC7713E}"/>
              </a:ext>
            </a:extLst>
          </p:cNvPr>
          <p:cNvSpPr/>
          <p:nvPr/>
        </p:nvSpPr>
        <p:spPr>
          <a:xfrm>
            <a:off x="4929351" y="5665075"/>
            <a:ext cx="3397561" cy="3153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CD18FB-321C-D95F-13AD-5B70370B0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586" t="10269" r="32586" b="35173"/>
          <a:stretch>
            <a:fillRect/>
          </a:stretch>
        </p:blipFill>
        <p:spPr>
          <a:xfrm>
            <a:off x="8537436" y="1666953"/>
            <a:ext cx="3654563" cy="3220357"/>
          </a:xfrm>
          <a:prstGeom prst="rect">
            <a:avLst/>
          </a:prstGeom>
          <a:ln>
            <a:solidFill>
              <a:srgbClr val="FF0000"/>
            </a:solidFill>
          </a:ln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CC8467F-81AF-8D52-D05C-13B7BB6C739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8326912" y="4887310"/>
            <a:ext cx="2037806" cy="1660635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9323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50077F-9F4E-F4C8-F8CA-8FA54DD196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879" b="32108"/>
          <a:stretch>
            <a:fillRect/>
          </a:stretch>
        </p:blipFill>
        <p:spPr>
          <a:xfrm>
            <a:off x="3591000" y="1233541"/>
            <a:ext cx="5153608" cy="5448804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3591001" y="1644671"/>
            <a:ext cx="5153607" cy="25103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CB40934-5D56-2C15-0394-8EFA0B8BA559}"/>
              </a:ext>
            </a:extLst>
          </p:cNvPr>
          <p:cNvSpPr txBox="1">
            <a:spLocks/>
          </p:cNvSpPr>
          <p:nvPr/>
        </p:nvSpPr>
        <p:spPr>
          <a:xfrm>
            <a:off x="0" y="-178545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</p:spTree>
    <p:extLst>
      <p:ext uri="{BB962C8B-B14F-4D97-AF65-F5344CB8AC3E}">
        <p14:creationId xmlns:p14="http://schemas.microsoft.com/office/powerpoint/2010/main" val="41389628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2">
            <a:extLst>
              <a:ext uri="{FF2B5EF4-FFF2-40B4-BE49-F238E27FC236}">
                <a16:creationId xmlns:a16="http://schemas.microsoft.com/office/drawing/2014/main" id="{6FDB77BE-CAF1-6F82-69E1-9D1EABEAC233}"/>
              </a:ext>
            </a:extLst>
          </p:cNvPr>
          <p:cNvSpPr txBox="1">
            <a:spLocks/>
          </p:cNvSpPr>
          <p:nvPr/>
        </p:nvSpPr>
        <p:spPr>
          <a:xfrm>
            <a:off x="0" y="-220434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7275B8-B4CB-38CA-B296-7AED410217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89" r="3206" b="7115"/>
          <a:stretch>
            <a:fillRect/>
          </a:stretch>
        </p:blipFill>
        <p:spPr>
          <a:xfrm>
            <a:off x="1938169" y="487965"/>
            <a:ext cx="8315661" cy="637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97681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CF6F5-7EB2-8D37-101A-9DCE4D7AB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B1CEE1-A82F-1ABE-9461-A954568F68B9}"/>
              </a:ext>
            </a:extLst>
          </p:cNvPr>
          <p:cNvSpPr txBox="1">
            <a:spLocks/>
          </p:cNvSpPr>
          <p:nvPr/>
        </p:nvSpPr>
        <p:spPr>
          <a:xfrm>
            <a:off x="0" y="-178545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5B45FE-694E-39F6-451B-65EBF10ADE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3912" b="33490"/>
          <a:stretch>
            <a:fillRect/>
          </a:stretch>
        </p:blipFill>
        <p:spPr>
          <a:xfrm>
            <a:off x="3273911" y="732011"/>
            <a:ext cx="5644178" cy="585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94725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7780E-7B37-7103-CD31-D5B14FA3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5512E3C-CE8F-5F14-609A-3FBD032C6FAF}"/>
              </a:ext>
            </a:extLst>
          </p:cNvPr>
          <p:cNvSpPr txBox="1">
            <a:spLocks/>
          </p:cNvSpPr>
          <p:nvPr/>
        </p:nvSpPr>
        <p:spPr>
          <a:xfrm>
            <a:off x="0" y="-178545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5FA847-3DB4-5867-C511-0CB23973BD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0" y="1043491"/>
            <a:ext cx="10767893" cy="565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202940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4501B-3D4C-A623-2300-687A3F2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8629529-1D15-5707-5DFF-90401701AD3A}"/>
              </a:ext>
            </a:extLst>
          </p:cNvPr>
          <p:cNvSpPr txBox="1">
            <a:spLocks/>
          </p:cNvSpPr>
          <p:nvPr/>
        </p:nvSpPr>
        <p:spPr>
          <a:xfrm>
            <a:off x="0" y="-178545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B42A53-419B-5B94-9B64-C0270E16DB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1333" r="20250" b="58852"/>
          <a:stretch>
            <a:fillRect/>
          </a:stretch>
        </p:blipFill>
        <p:spPr>
          <a:xfrm>
            <a:off x="0" y="1109642"/>
            <a:ext cx="12192000" cy="336263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6718269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84ABA-A415-3D20-0EE4-8253BB8BF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A6739FF-B20F-FD22-BB4E-9CB2DAE8528C}"/>
              </a:ext>
            </a:extLst>
          </p:cNvPr>
          <p:cNvSpPr txBox="1">
            <a:spLocks/>
          </p:cNvSpPr>
          <p:nvPr/>
        </p:nvSpPr>
        <p:spPr>
          <a:xfrm>
            <a:off x="0" y="-178545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31743B-D771-B778-CAA3-B80987BF90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412"/>
          <a:stretch>
            <a:fillRect/>
          </a:stretch>
        </p:blipFill>
        <p:spPr>
          <a:xfrm>
            <a:off x="2860974" y="1893346"/>
            <a:ext cx="9331025" cy="49646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5A0F4E-E67E-CC5B-4AF8-F2BE5C7B7AA9}"/>
              </a:ext>
            </a:extLst>
          </p:cNvPr>
          <p:cNvSpPr txBox="1"/>
          <p:nvPr/>
        </p:nvSpPr>
        <p:spPr>
          <a:xfrm>
            <a:off x="0" y="572885"/>
            <a:ext cx="7487322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Right Click on Package or Class and Select Run As &gt;&gt; Select Java Application</a:t>
            </a:r>
          </a:p>
        </p:txBody>
      </p:sp>
    </p:spTree>
    <p:extLst>
      <p:ext uri="{BB962C8B-B14F-4D97-AF65-F5344CB8AC3E}">
        <p14:creationId xmlns:p14="http://schemas.microsoft.com/office/powerpoint/2010/main" val="3309550478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63973-1A75-97AC-74C5-55F689290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8D42DE-296C-9607-3E5F-C1AEAD4AA699}"/>
              </a:ext>
            </a:extLst>
          </p:cNvPr>
          <p:cNvSpPr txBox="1">
            <a:spLocks/>
          </p:cNvSpPr>
          <p:nvPr/>
        </p:nvSpPr>
        <p:spPr>
          <a:xfrm>
            <a:off x="0" y="-178545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D88C89-1662-B41A-D5C9-9D196A5E49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69"/>
          <a:stretch>
            <a:fillRect/>
          </a:stretch>
        </p:blipFill>
        <p:spPr>
          <a:xfrm>
            <a:off x="784784" y="1215614"/>
            <a:ext cx="10622431" cy="56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90161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1548E-9A8D-AC1F-B390-8DAA756F4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E31FEDB5-40AE-FE56-24EF-C46DCA4CE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72275"/>
            <a:ext cx="12192000" cy="1964512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public class Welcome: Defines a public class named Welcome.</a:t>
            </a:r>
          </a:p>
          <a:p>
            <a:pPr marL="45720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public static void main(String[] </a:t>
            </a:r>
            <a:r>
              <a:rPr lang="en-US" altLang="en-US" sz="28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): The main method is the entry point of the program.</a:t>
            </a: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79F00A84-71BF-B028-6634-EBABD03F174B}"/>
              </a:ext>
            </a:extLst>
          </p:cNvPr>
          <p:cNvSpPr txBox="1">
            <a:spLocks/>
          </p:cNvSpPr>
          <p:nvPr/>
        </p:nvSpPr>
        <p:spPr>
          <a:xfrm>
            <a:off x="0" y="-198919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C440AB-BF7E-A45F-FD5E-A2B5B083AB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1333" r="20250" b="58852"/>
          <a:stretch>
            <a:fillRect/>
          </a:stretch>
        </p:blipFill>
        <p:spPr>
          <a:xfrm>
            <a:off x="0" y="1109642"/>
            <a:ext cx="12192000" cy="336263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8189409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406B6-C809-4497-43DA-42CB27FB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4C0F99B3-5670-3136-F79D-E34679E88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932858"/>
            <a:ext cx="12192000" cy="2918107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en-US" sz="25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("Welcome to Java \</a:t>
            </a:r>
            <a:r>
              <a:rPr lang="en-US" altLang="en-US" sz="25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nKind</a:t>
            </a: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Regards, \</a:t>
            </a:r>
            <a:r>
              <a:rPr lang="en-US" altLang="en-US" sz="25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nDr</a:t>
            </a: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Farshid Keivanian");: Prints the message "Welcome to Java!" to the console.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simple program introduces you to the fundamental components of a Java program, such as classes, methods, and the standard output function. By running this program, you get a practical understanding of how Java code is structured and executed.</a:t>
            </a:r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315540C7-52A3-7429-EEAB-9BF4C2985122}"/>
              </a:ext>
            </a:extLst>
          </p:cNvPr>
          <p:cNvSpPr txBox="1">
            <a:spLocks/>
          </p:cNvSpPr>
          <p:nvPr/>
        </p:nvSpPr>
        <p:spPr>
          <a:xfrm>
            <a:off x="60960" y="-220589"/>
            <a:ext cx="7244358" cy="708399"/>
          </a:xfrm>
          <a:prstGeom prst="rect">
            <a:avLst/>
          </a:prstGeom>
        </p:spPr>
        <p:txBody>
          <a:bodyPr vert="horz" wrap="square" lIns="0" tIns="259588" rIns="0" bIns="0" rtlCol="0" anchor="b">
            <a:spAutoFit/>
          </a:bodyPr>
          <a:lstStyle>
            <a:lvl1pPr algn="ctr">
              <a:defRPr sz="45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3825" algn="l">
              <a:spcBef>
                <a:spcPts val="100"/>
              </a:spcBef>
            </a:pPr>
            <a:r>
              <a:rPr lang="en-US" sz="2900" kern="0" spc="-20" dirty="0"/>
              <a:t>Welcome to Java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070D70-F437-BE3D-C292-D11D8848C9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1333" r="20250" b="58852"/>
          <a:stretch>
            <a:fillRect/>
          </a:stretch>
        </p:blipFill>
        <p:spPr>
          <a:xfrm>
            <a:off x="0" y="969793"/>
            <a:ext cx="10746889" cy="296406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986988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619432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Simple User Input and Output Analysis in Java</a:t>
            </a:r>
            <a:endParaRPr lang="en-AU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865401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AE4D91-CE87-FC9C-9125-9640E7D139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65150" b="33112"/>
          <a:stretch>
            <a:fillRect/>
          </a:stretch>
        </p:blipFill>
        <p:spPr>
          <a:xfrm>
            <a:off x="6404479" y="2175641"/>
            <a:ext cx="4337094" cy="468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216718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DC77D43-DA27-FB7B-C20A-06DF30B6F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90" r="22874" b="7917"/>
          <a:stretch/>
        </p:blipFill>
        <p:spPr>
          <a:xfrm>
            <a:off x="5644054" y="2066083"/>
            <a:ext cx="5023946" cy="47919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87"/>
            <a:ext cx="7598979" cy="903890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Simple User Input and Output Analysis in Java</a:t>
            </a:r>
            <a:endParaRPr lang="en-AU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905377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8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5707115" y="2764223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5368535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06090E-3FC1-5EFA-01F1-4DE5944DD3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1316" r="25862" b="29003"/>
          <a:stretch/>
        </p:blipFill>
        <p:spPr>
          <a:xfrm>
            <a:off x="4876972" y="2102070"/>
            <a:ext cx="5791028" cy="47469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57"/>
            <a:ext cx="7598979" cy="87235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Simple User Input and Output Analysis in Java</a:t>
            </a:r>
            <a:endParaRPr lang="en-AU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32</a:t>
            </a:fld>
            <a:endParaRPr lang="en-US" alt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4876973" y="2992032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5202643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77" y="0"/>
            <a:ext cx="7598979" cy="819807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Simple User Input and Output Analysis in Java</a:t>
            </a:r>
            <a:endParaRPr lang="en-AU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33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88392"/>
            <a:ext cx="7924801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</a:t>
            </a:r>
            <a:r>
              <a:rPr lang="en-US" altLang="en-US" sz="28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en-US" altLang="en-US" sz="28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0388A2-F998-8298-DEF8-5B0D4377C0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C0FC55-9019-8FFD-D396-50FD33A382BA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C8C3E3-4F51-91C7-432E-F956F74991C4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13870627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840828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Simple User Input and Output Analysis in Java</a:t>
            </a:r>
            <a:endParaRPr lang="en-AU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34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28293"/>
            <a:ext cx="10668001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Enter a class name (e.g., </a:t>
            </a:r>
            <a:r>
              <a:rPr lang="en-US" altLang="en-US" sz="28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8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E0DB94-28BF-9CFC-7ADC-C36CEBBEF2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r="30115" b="28595"/>
          <a:stretch/>
        </p:blipFill>
        <p:spPr>
          <a:xfrm>
            <a:off x="5948856" y="2105708"/>
            <a:ext cx="4719145" cy="475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91706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861774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Simple User Input and Output Analysis in Java</a:t>
            </a:r>
            <a:endParaRPr lang="en-AU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/>
              <a:pPr>
                <a:defRPr/>
              </a:pPr>
              <a:t>35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748373"/>
            <a:ext cx="10699532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4. Write Java code:</a:t>
            </a:r>
            <a:endParaRPr 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Write the code into the newly created class: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BC6A3E-C526-2D84-4F67-ADB6966EAA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845"/>
          <a:stretch/>
        </p:blipFill>
        <p:spPr>
          <a:xfrm>
            <a:off x="1534510" y="2066554"/>
            <a:ext cx="9144000" cy="479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50187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1" y="1687354"/>
            <a:ext cx="90048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D92B20-5416-8B09-932D-4A8D582A5D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724" b="34521"/>
          <a:stretch/>
        </p:blipFill>
        <p:spPr>
          <a:xfrm>
            <a:off x="5895278" y="0"/>
            <a:ext cx="4783873" cy="22510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7C51AE-71D8-1566-49EE-773F3C02DE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16139" r="29635" b="31680"/>
          <a:stretch/>
        </p:blipFill>
        <p:spPr>
          <a:xfrm>
            <a:off x="1524000" y="1"/>
            <a:ext cx="4360127" cy="178419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6060" y="2477009"/>
            <a:ext cx="2123090" cy="4154984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Import Statement: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import </a:t>
            </a: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java.util.Scanner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imports the Scanner class, which is used for reading input from the user.</a:t>
            </a:r>
          </a:p>
        </p:txBody>
      </p:sp>
    </p:spTree>
    <p:extLst>
      <p:ext uri="{BB962C8B-B14F-4D97-AF65-F5344CB8AC3E}">
        <p14:creationId xmlns:p14="http://schemas.microsoft.com/office/powerpoint/2010/main" val="4164295243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77C24-F122-5E7B-7804-7FA25FEC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3663187-3084-D995-E4D9-F137CB6823F8}"/>
              </a:ext>
            </a:extLst>
          </p:cNvPr>
          <p:cNvSpPr txBox="1"/>
          <p:nvPr/>
        </p:nvSpPr>
        <p:spPr>
          <a:xfrm>
            <a:off x="1524001" y="1687354"/>
            <a:ext cx="90048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F96B6C-9F8A-5990-7A5E-8075CD4C10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724" b="34521"/>
          <a:stretch/>
        </p:blipFill>
        <p:spPr>
          <a:xfrm>
            <a:off x="5895278" y="0"/>
            <a:ext cx="4783873" cy="22510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058F81-AC8B-B734-0FD0-395889928C7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16139" r="29635" b="31680"/>
          <a:stretch/>
        </p:blipFill>
        <p:spPr>
          <a:xfrm>
            <a:off x="1524000" y="1"/>
            <a:ext cx="4360127" cy="178419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097" y="2723665"/>
            <a:ext cx="1933903" cy="3816429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 Class Declaration: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public class </a:t>
            </a: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declares a public class named </a:t>
            </a: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981516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38B27-CDFE-6FC7-52FF-85C7A104A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28C144-7411-8333-C08D-731FEFB62819}"/>
              </a:ext>
            </a:extLst>
          </p:cNvPr>
          <p:cNvSpPr txBox="1"/>
          <p:nvPr/>
        </p:nvSpPr>
        <p:spPr>
          <a:xfrm>
            <a:off x="1524001" y="1687354"/>
            <a:ext cx="90048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CE8DDC-9F36-8426-4C51-C05EB49818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724" b="34521"/>
          <a:stretch/>
        </p:blipFill>
        <p:spPr>
          <a:xfrm>
            <a:off x="5895278" y="0"/>
            <a:ext cx="4783873" cy="22510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76E378-9E0E-A080-AD7A-9741F81EAC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16139" r="29635" b="31680"/>
          <a:stretch/>
        </p:blipFill>
        <p:spPr>
          <a:xfrm>
            <a:off x="1524000" y="1"/>
            <a:ext cx="4360127" cy="178419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86952" y="2358834"/>
            <a:ext cx="2081048" cy="44935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3. Main Method: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public static void main(String[] </a:t>
            </a: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is the entry point of the program where execution begins.</a:t>
            </a:r>
          </a:p>
        </p:txBody>
      </p:sp>
    </p:spTree>
    <p:extLst>
      <p:ext uri="{BB962C8B-B14F-4D97-AF65-F5344CB8AC3E}">
        <p14:creationId xmlns:p14="http://schemas.microsoft.com/office/powerpoint/2010/main" val="1013971714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240803"/>
            <a:ext cx="7262648" cy="517064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49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4. Scanner Object Creation: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Scanner </a:t>
            </a: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scanner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= new Scanner(System.in);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creates a Scanner object to read input from the standard input stream (keyboard).</a:t>
            </a:r>
          </a:p>
        </p:txBody>
      </p:sp>
    </p:spTree>
    <p:extLst>
      <p:ext uri="{BB962C8B-B14F-4D97-AF65-F5344CB8AC3E}">
        <p14:creationId xmlns:p14="http://schemas.microsoft.com/office/powerpoint/2010/main" val="8144826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5. Prompting for Input: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System.out.print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("Enter your name: 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prompts the user to enter their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6. Reading Input: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String name = </a:t>
            </a: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scanner.nextLine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reads the user's input and stores it in a variable named name.</a:t>
            </a:r>
          </a:p>
        </p:txBody>
      </p:sp>
    </p:spTree>
    <p:extLst>
      <p:ext uri="{BB962C8B-B14F-4D97-AF65-F5344CB8AC3E}">
        <p14:creationId xmlns:p14="http://schemas.microsoft.com/office/powerpoint/2010/main" val="1068448143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7. Producing Output: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("Welcome, " + name + "!");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outputs a welcome message that includes the user's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8. Closing the Scanner:</a:t>
            </a:r>
            <a:endParaRPr lang="en-US" altLang="en-US" sz="22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scanner.close</a:t>
            </a: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line closes the Scanner object to free up resources.</a:t>
            </a:r>
          </a:p>
        </p:txBody>
      </p:sp>
    </p:spTree>
    <p:extLst>
      <p:ext uri="{BB962C8B-B14F-4D97-AF65-F5344CB8AC3E}">
        <p14:creationId xmlns:p14="http://schemas.microsoft.com/office/powerpoint/2010/main" val="146403201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228259"/>
            <a:ext cx="7833363" cy="17639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5. Run the Java program:</a:t>
            </a:r>
            <a:endParaRPr lang="en-US" altLang="en-US" sz="25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Right-click on your Java file (e.g., UserInputOutput.java).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 Run As &gt; Java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3A049-16B7-1532-4E25-EF22C045B4CE}"/>
              </a:ext>
            </a:extLst>
          </p:cNvPr>
          <p:cNvSpPr txBox="1"/>
          <p:nvPr/>
        </p:nvSpPr>
        <p:spPr>
          <a:xfrm>
            <a:off x="1524000" y="1911783"/>
            <a:ext cx="9144000" cy="1186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will execute Java program, allowing you to enter your name and see the welcome message displayed in the console.</a:t>
            </a:r>
            <a:endParaRPr lang="en-AU" sz="25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5A3FF1-F997-463E-4D89-0ECCD4CF86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8171" b="26910"/>
          <a:stretch/>
        </p:blipFill>
        <p:spPr>
          <a:xfrm>
            <a:off x="1524000" y="3098646"/>
            <a:ext cx="7482468" cy="375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442605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681110"/>
            <a:ext cx="348524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 and Click on OK</a:t>
            </a:r>
            <a:endParaRPr lang="en-US" alt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FDA8C-48B1-01A0-CD2E-D6CD54EEBF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487" b="31247"/>
          <a:stretch/>
        </p:blipFill>
        <p:spPr>
          <a:xfrm>
            <a:off x="1524000" y="1348757"/>
            <a:ext cx="9144000" cy="4447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510371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23083"/>
            <a:ext cx="125386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4C44D0-74F6-FB4E-3E4D-A7F8E244E6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65"/>
          <a:stretch/>
        </p:blipFill>
        <p:spPr>
          <a:xfrm>
            <a:off x="1524000" y="1036367"/>
            <a:ext cx="9144000" cy="478526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61207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4054632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FAA617-A0A6-8DB3-2E79-0A38188C0E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566"/>
          <a:stretch/>
        </p:blipFill>
        <p:spPr>
          <a:xfrm>
            <a:off x="1524000" y="1137427"/>
            <a:ext cx="9144000" cy="46514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23083"/>
            <a:ext cx="125386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8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72355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7579289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CB80AF-82DD-3D32-23A4-A3B5919102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398"/>
          <a:stretch/>
        </p:blipFill>
        <p:spPr>
          <a:xfrm>
            <a:off x="1524000" y="1334305"/>
            <a:ext cx="9144000" cy="476296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5296386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solidFill>
                  <a:srgbClr val="3C10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Visual Studio – Extension Pack for Java</a:t>
            </a:r>
            <a:endParaRPr lang="en-US" altLang="en-US" sz="2500" dirty="0">
              <a:solidFill>
                <a:srgbClr val="3C105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2003503" y="2450815"/>
            <a:ext cx="3133493" cy="836347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1225315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1500</Words>
  <Application>Microsoft Office PowerPoint</Application>
  <PresentationFormat>Widescreen</PresentationFormat>
  <Paragraphs>212</Paragraphs>
  <Slides>46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Aptos</vt:lpstr>
      <vt:lpstr>Aptos Display</vt:lpstr>
      <vt:lpstr>Arial</vt:lpstr>
      <vt:lpstr>Calibri</vt:lpstr>
      <vt:lpstr>Consolas</vt:lpstr>
      <vt:lpstr>Office Theme</vt:lpstr>
      <vt:lpstr>ACU Presentation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69</cp:revision>
  <dcterms:created xsi:type="dcterms:W3CDTF">2024-07-26T20:43:25Z</dcterms:created>
  <dcterms:modified xsi:type="dcterms:W3CDTF">2026-03-02T08:14:33Z</dcterms:modified>
</cp:coreProperties>
</file>